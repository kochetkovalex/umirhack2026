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58" r:id="rId5"/>
    <p:sldId id="259" r:id="rId6"/>
    <p:sldId id="256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92A19A-8C2C-4336-A310-5A6181233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F0AE20-7C37-4041-B961-C9463C01A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705A11-85D9-46EF-8E76-77CE4B7B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E378-5AF7-4AE6-8A41-882E0303B821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2C71E5-6EFB-4649-9E08-F53E357CE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AD6FCC-BA7F-4671-B1A2-EE537135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C1-D298-4870-938F-D210926A1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155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2DCD54-9F95-45C7-9A2B-740A67B95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E9B2BC-8679-47C2-A921-4A5731514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28E1CB-7843-49AC-9ADB-D204D4419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E378-5AF7-4AE6-8A41-882E0303B821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47D1DE-C40D-491A-844C-A3019AFAE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8A273F-418E-44C8-98AC-C7D3A0DF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C1-D298-4870-938F-D210926A1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640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7E088-EB2A-40A2-ABA1-855AE26BD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13F736-3F4C-4537-A085-9AF30E2FF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3DFD17-1F82-4E63-93CB-1DDA225D8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E378-5AF7-4AE6-8A41-882E0303B821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2DE426-E426-4C1B-82B5-62F4E876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7BCD0C-0C5D-4C6F-8D7D-F000CBBF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C1-D298-4870-938F-D210926A1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4727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211626-56B8-45ED-B2D1-49A4061BA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292508-E52C-407B-B164-38556F7D8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58B0BC-7C82-49D8-AE78-F3C35EE6C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C20D47-BAF5-44F8-92BA-776BD6D1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E378-5AF7-4AE6-8A41-882E0303B821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50DBE2-7305-4E2B-B356-E04AFC64E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1E92B7-EE9F-4955-9EDC-BC9D77884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C1-D298-4870-938F-D210926A1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04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8A9B25-CA61-4EE9-AD3F-957CABB85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3A2523-36DC-4C9F-8994-087F7DCC2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682D1D-96CB-4C04-BA06-36DE3F452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2859A70-C0D6-4DD8-B38E-C658B82B9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7E67F2-725F-476B-A837-64C96206CC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636E801-00DC-47BA-A1C9-8E16E4C10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E378-5AF7-4AE6-8A41-882E0303B821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6C991DE-F37D-4A89-BD03-D1F81F1D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4B35389-3324-4EB3-B2A5-260F0301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C1-D298-4870-938F-D210926A1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664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24D73-768A-4F6C-89C7-5CB6E77C8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C2C8C43-03DF-4ED1-A6B3-6899F9A52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E378-5AF7-4AE6-8A41-882E0303B821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00EFF6E-2C95-4A10-BE32-8C005C7E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022DD8-5E2C-45E8-BAED-24FC3B37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C1-D298-4870-938F-D210926A1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53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E73A1CE-7259-4617-827C-0E1EE95A8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E378-5AF7-4AE6-8A41-882E0303B821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3D3C11B-10EF-4012-91D4-D41316DA8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6A709A-F8F6-476E-89E5-B7205EE7C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C1-D298-4870-938F-D210926A1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0321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410CF8-1F4C-4385-BC63-88CDF56BB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4C5EB4-10B2-43BC-9C89-72F2E3C4F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D6BD04-BBF5-4C73-942C-F8027D544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E2A912-5B1E-4792-9BC0-6FBE97C6E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E378-5AF7-4AE6-8A41-882E0303B821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4AE5AF-6359-4F27-B27C-A7E4F437F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03FB7B-4EE2-4EDE-82E6-197026662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C1-D298-4870-938F-D210926A1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167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88AF8B-E736-4CF8-A8C2-C3638BA0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CC13E35-9FD5-432E-B403-3D04A3804C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3FA763-49C0-401C-A9DA-4D14A5AAC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CDF697-D3B5-411E-9348-575D7D751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E378-5AF7-4AE6-8A41-882E0303B821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389E97-31F9-4E34-89B2-DF6BAABD1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FFCAC4-1644-45DF-8701-409BE759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C1-D298-4870-938F-D210926A1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61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E14F3F-D3B2-40DD-8162-4F808B794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9E6CBD-EBCB-412E-B2F1-2EDC0A8C2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CF5BFE-9C7C-4209-83D4-95336AE5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E378-5AF7-4AE6-8A41-882E0303B821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EB70E6-E5E0-4A54-AD71-945FDA02D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8C8E4E-FA77-44C9-9670-5E9A7925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C1-D298-4870-938F-D210926A1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797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914359-ABC7-47FD-8A2E-7B5418E08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99B5CB-70E0-400D-96F9-7484B9BA1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8DB95A-F79A-47FF-8D1C-01FE718D1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E378-5AF7-4AE6-8A41-882E0303B821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629F91-219A-4956-882A-1C3D26A03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8A7302-0248-44B2-B19A-4BAACAC0B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3BC1-D298-4870-938F-D210926A1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159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ACEF92-6D0F-4494-808F-329C8161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F168D0-7908-4427-A64B-C0A3D9823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1E8A82-5DAC-4732-8B89-842295F39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6E378-5AF7-4AE6-8A41-882E0303B821}" type="datetimeFigureOut">
              <a:rPr lang="ru-RU" smtClean="0"/>
              <a:t>04.04.2026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715ABD-E155-4C83-BC66-38BFCA292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CC0016-B580-4FB0-87AB-9A8CE6D26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33BC1-D298-4870-938F-D210926A1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687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F6895D38-79E6-47FD-8600-E8FCD81E9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874" y="1162469"/>
            <a:ext cx="11173326" cy="2387600"/>
          </a:xfrm>
        </p:spPr>
        <p:txBody>
          <a:bodyPr>
            <a:normAutofit/>
          </a:bodyPr>
          <a:lstStyle/>
          <a:p>
            <a:pPr algn="just"/>
            <a:r>
              <a:rPr lang="ru-RU" sz="4800" b="1" kern="1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ИИ‑ассистент объективной аналитики новостей и соцсетей для органов власти</a:t>
            </a:r>
            <a:endParaRPr lang="ru-RU" sz="16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659F72F-ADC9-4219-8510-EF06CE35F932}"/>
              </a:ext>
            </a:extLst>
          </p:cNvPr>
          <p:cNvSpPr/>
          <p:nvPr/>
        </p:nvSpPr>
        <p:spPr>
          <a:xfrm>
            <a:off x="818146" y="769437"/>
            <a:ext cx="3481137" cy="569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РЕШЕНИЕ ДЛЯ ГОССЕКТОРА</a:t>
            </a:r>
          </a:p>
        </p:txBody>
      </p: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994D0A11-C145-4885-8F3C-87DDF153F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7325" y="4909470"/>
            <a:ext cx="2767263" cy="584951"/>
          </a:xfrm>
        </p:spPr>
        <p:txBody>
          <a:bodyPr>
            <a:normAutofit fontScale="92500" lnSpcReduction="10000"/>
          </a:bodyPr>
          <a:lstStyle/>
          <a:p>
            <a:r>
              <a:rPr lang="en-US" sz="3900" b="1" dirty="0" err="1">
                <a:latin typeface="Roboto" panose="02000000000000000000" pitchFamily="2" charset="0"/>
                <a:ea typeface="Roboto" panose="02000000000000000000" pitchFamily="2" charset="0"/>
              </a:rPr>
              <a:t>Blumenkohl</a:t>
            </a:r>
            <a:endParaRPr lang="ru-RU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153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66761-1A81-4FD5-94EC-4A9CD449F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16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Проблема: информационный разрыв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00E21D-EF51-4C1E-8ACE-6A58052A1551}"/>
              </a:ext>
            </a:extLst>
          </p:cNvPr>
          <p:cNvSpPr txBox="1"/>
          <p:nvPr/>
        </p:nvSpPr>
        <p:spPr>
          <a:xfrm>
            <a:off x="501316" y="1325563"/>
            <a:ext cx="11189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Губернатор и ситуационный центр часто получают сигналы о проблемах с задержкой – через СМИ или обращения граждан.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17E2DEC-A132-4FCF-A402-C966B5099FA3}"/>
              </a:ext>
            </a:extLst>
          </p:cNvPr>
          <p:cNvSpPr/>
          <p:nvPr/>
        </p:nvSpPr>
        <p:spPr>
          <a:xfrm>
            <a:off x="579663" y="3012619"/>
            <a:ext cx="3355521" cy="20655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Замедленный отклик</a:t>
            </a:r>
          </a:p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Жалобы накапливаются неделями до попадания в сводку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7523403-2FFA-4A04-B2E7-1F71C6C3BC94}"/>
              </a:ext>
            </a:extLst>
          </p:cNvPr>
          <p:cNvSpPr/>
          <p:nvPr/>
        </p:nvSpPr>
        <p:spPr>
          <a:xfrm>
            <a:off x="4418239" y="3012619"/>
            <a:ext cx="3355521" cy="20655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ru-RU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Искажение данных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Информация проходит через несколько звеньев и теряет точность</a:t>
            </a:r>
          </a:p>
          <a:p>
            <a:pPr algn="just"/>
            <a:endParaRPr lang="ru-RU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D439894-5C53-446D-8038-366B677E9E16}"/>
              </a:ext>
            </a:extLst>
          </p:cNvPr>
          <p:cNvSpPr/>
          <p:nvPr/>
        </p:nvSpPr>
        <p:spPr>
          <a:xfrm>
            <a:off x="8256815" y="3012619"/>
            <a:ext cx="3355521" cy="20655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ru-RU" b="1" dirty="0"/>
          </a:p>
          <a:p>
            <a:pPr algn="just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Отсутствие единого видения</a:t>
            </a:r>
          </a:p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Отраслевые данные разобщены, без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</a:rPr>
              <a:t>геопривязки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 и динамики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6462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66761-1A81-4FD5-94EC-4A9CD449F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16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Принцип работы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00E21D-EF51-4C1E-8ACE-6A58052A1551}"/>
              </a:ext>
            </a:extLst>
          </p:cNvPr>
          <p:cNvSpPr txBox="1"/>
          <p:nvPr/>
        </p:nvSpPr>
        <p:spPr>
          <a:xfrm>
            <a:off x="501316" y="1325563"/>
            <a:ext cx="11189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Автоматизированный цикл от сбора данных до доставки результата руководителю. Без ручного труда. Использует открытые библиотеки для анализа и кластеризации.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9C00694-603E-4950-BA70-A1906C4406C7}"/>
              </a:ext>
            </a:extLst>
          </p:cNvPr>
          <p:cNvSpPr/>
          <p:nvPr/>
        </p:nvSpPr>
        <p:spPr>
          <a:xfrm>
            <a:off x="8590546" y="378034"/>
            <a:ext cx="3481137" cy="569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АЛГОРИТМ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1371C55-762D-44A4-8628-A77170C91F71}"/>
              </a:ext>
            </a:extLst>
          </p:cNvPr>
          <p:cNvSpPr/>
          <p:nvPr/>
        </p:nvSpPr>
        <p:spPr>
          <a:xfrm>
            <a:off x="569495" y="2453239"/>
            <a:ext cx="5213684" cy="18368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 err="1">
                <a:latin typeface="Roboto" panose="02000000000000000000" pitchFamily="2" charset="0"/>
                <a:ea typeface="Roboto" panose="02000000000000000000" pitchFamily="2" charset="0"/>
              </a:rPr>
              <a:t>Парсинг</a:t>
            </a:r>
            <a:endParaRPr lang="ru-RU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Сбор публикаций и сообщений из открытых источников</a:t>
            </a:r>
          </a:p>
          <a:p>
            <a:pPr algn="ctr"/>
            <a:endParaRPr lang="ru-RU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875B47F-64BA-4C81-9D6F-BB4F5D3D3EE6}"/>
              </a:ext>
            </a:extLst>
          </p:cNvPr>
          <p:cNvSpPr/>
          <p:nvPr/>
        </p:nvSpPr>
        <p:spPr>
          <a:xfrm>
            <a:off x="569495" y="4614026"/>
            <a:ext cx="5213684" cy="18368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Аналитика</a:t>
            </a:r>
          </a:p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Выявление паттернов, динамики и приоритетных зон</a:t>
            </a:r>
          </a:p>
          <a:p>
            <a:pPr algn="ctr"/>
            <a:endParaRPr lang="ru-RU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488386F-70F6-47F5-A3AB-BEB74E24CE99}"/>
              </a:ext>
            </a:extLst>
          </p:cNvPr>
          <p:cNvSpPr/>
          <p:nvPr/>
        </p:nvSpPr>
        <p:spPr>
          <a:xfrm>
            <a:off x="6408821" y="2453239"/>
            <a:ext cx="5213684" cy="18368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Кластеризация</a:t>
            </a:r>
          </a:p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Группировка похожих сигналов по темам и смыслу</a:t>
            </a:r>
          </a:p>
          <a:p>
            <a:pPr algn="ctr"/>
            <a:endParaRPr lang="ru-RU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A7CD834-0C9F-4003-8A20-3B8B27F1E85A}"/>
              </a:ext>
            </a:extLst>
          </p:cNvPr>
          <p:cNvSpPr/>
          <p:nvPr/>
        </p:nvSpPr>
        <p:spPr>
          <a:xfrm>
            <a:off x="6408821" y="4614025"/>
            <a:ext cx="5213684" cy="18368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Доставка</a:t>
            </a:r>
          </a:p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Передача краткой сводки руководителю в удобном формате</a:t>
            </a:r>
          </a:p>
          <a:p>
            <a:pPr algn="ctr"/>
            <a:endParaRPr lang="ru-RU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86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B90A0-99FC-4978-87A0-19F7B82EA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17" y="0"/>
            <a:ext cx="10515600" cy="1325563"/>
          </a:xfrm>
        </p:spPr>
        <p:txBody>
          <a:bodyPr/>
          <a:lstStyle/>
          <a:p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Источники и техническое решение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39D4480-2202-4C12-B4B4-AB28FAC1E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75" y="1491914"/>
            <a:ext cx="4409490" cy="44094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E91BAE0-83D5-44E9-A969-18266CAA74B0}"/>
              </a:ext>
            </a:extLst>
          </p:cNvPr>
          <p:cNvSpPr/>
          <p:nvPr/>
        </p:nvSpPr>
        <p:spPr>
          <a:xfrm>
            <a:off x="5887452" y="1491914"/>
            <a:ext cx="4756484" cy="13255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ru-RU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Асинхронный </a:t>
            </a:r>
            <a:r>
              <a:rPr lang="ru-RU" b="1" dirty="0" err="1">
                <a:latin typeface="Roboto" panose="02000000000000000000" pitchFamily="2" charset="0"/>
                <a:ea typeface="Roboto" panose="02000000000000000000" pitchFamily="2" charset="0"/>
              </a:rPr>
              <a:t>парсинг</a:t>
            </a:r>
            <a:endParaRPr lang="ru-RU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Весь код написан асинхронно — параллельный сбор из всех источников без задержек</a:t>
            </a:r>
          </a:p>
          <a:p>
            <a:pPr algn="ctr"/>
            <a:endParaRPr lang="ru-RU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AAA00F6-8746-4BFF-B1DC-79411FFD6049}"/>
              </a:ext>
            </a:extLst>
          </p:cNvPr>
          <p:cNvSpPr/>
          <p:nvPr/>
        </p:nvSpPr>
        <p:spPr>
          <a:xfrm>
            <a:off x="5887452" y="2983829"/>
            <a:ext cx="4756484" cy="13255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Open-</a:t>
            </a:r>
            <a:r>
              <a:rPr lang="ru-RU" b="1" dirty="0" err="1">
                <a:latin typeface="Roboto" panose="02000000000000000000" pitchFamily="2" charset="0"/>
                <a:ea typeface="Roboto" panose="02000000000000000000" pitchFamily="2" charset="0"/>
              </a:rPr>
              <a:t>source</a:t>
            </a: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 кластеризация</a:t>
            </a:r>
          </a:p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Алгоритм объединяет схожие сообщения в темы и автоматически удаляет дубли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83B0648-7975-4C13-A1C7-D0699D85B8A6}"/>
              </a:ext>
            </a:extLst>
          </p:cNvPr>
          <p:cNvSpPr/>
          <p:nvPr/>
        </p:nvSpPr>
        <p:spPr>
          <a:xfrm>
            <a:off x="5887452" y="4475744"/>
            <a:ext cx="4756484" cy="13255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Локальная инфраструктура</a:t>
            </a:r>
          </a:p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Все вычисления на серверах заказчика Никаких зарубежных и облачных сервисов</a:t>
            </a:r>
          </a:p>
        </p:txBody>
      </p:sp>
    </p:spTree>
    <p:extLst>
      <p:ext uri="{BB962C8B-B14F-4D97-AF65-F5344CB8AC3E}">
        <p14:creationId xmlns:p14="http://schemas.microsoft.com/office/powerpoint/2010/main" val="1943626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B1ECAC9-01D7-4478-BBB1-E4C1C93799B6}"/>
              </a:ext>
            </a:extLst>
          </p:cNvPr>
          <p:cNvSpPr/>
          <p:nvPr/>
        </p:nvSpPr>
        <p:spPr>
          <a:xfrm>
            <a:off x="0" y="0"/>
            <a:ext cx="2286000" cy="21095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76FB655-C59A-4720-BF9B-DF040551DB01}"/>
              </a:ext>
            </a:extLst>
          </p:cNvPr>
          <p:cNvSpPr/>
          <p:nvPr/>
        </p:nvSpPr>
        <p:spPr>
          <a:xfrm>
            <a:off x="2286000" y="2109538"/>
            <a:ext cx="2286000" cy="21095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0A2274-02CE-4722-95D1-D8F15BA4C4CB}"/>
              </a:ext>
            </a:extLst>
          </p:cNvPr>
          <p:cNvSpPr/>
          <p:nvPr/>
        </p:nvSpPr>
        <p:spPr>
          <a:xfrm>
            <a:off x="4572000" y="0"/>
            <a:ext cx="2286000" cy="21095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2316DA7-85FC-4AB0-A83A-71F19C0CA7B9}"/>
              </a:ext>
            </a:extLst>
          </p:cNvPr>
          <p:cNvSpPr/>
          <p:nvPr/>
        </p:nvSpPr>
        <p:spPr>
          <a:xfrm>
            <a:off x="9906000" y="4748462"/>
            <a:ext cx="2286000" cy="21095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C789CF2-A5CE-4941-80E9-C6B9E6F0EEB2}"/>
              </a:ext>
            </a:extLst>
          </p:cNvPr>
          <p:cNvSpPr/>
          <p:nvPr/>
        </p:nvSpPr>
        <p:spPr>
          <a:xfrm>
            <a:off x="7620000" y="2638924"/>
            <a:ext cx="2286000" cy="21095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DBDF7D6-6D03-46D4-8AA7-ABC610CAC01E}"/>
              </a:ext>
            </a:extLst>
          </p:cNvPr>
          <p:cNvSpPr/>
          <p:nvPr/>
        </p:nvSpPr>
        <p:spPr>
          <a:xfrm>
            <a:off x="5334000" y="4748462"/>
            <a:ext cx="2286000" cy="21095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341299-2286-457D-BC8A-4AFDC24F8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570" y="958513"/>
            <a:ext cx="3360821" cy="3360821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3FBEA70-808E-4D57-9D5F-BAD1A3089E72}"/>
              </a:ext>
            </a:extLst>
          </p:cNvPr>
          <p:cNvSpPr/>
          <p:nvPr/>
        </p:nvSpPr>
        <p:spPr>
          <a:xfrm>
            <a:off x="4024560" y="4227099"/>
            <a:ext cx="4130843" cy="210953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latin typeface="Roboto" panose="02000000000000000000" pitchFamily="2" charset="0"/>
                <a:ea typeface="Roboto" panose="02000000000000000000" pitchFamily="2" charset="0"/>
              </a:rPr>
              <a:t>GitHub</a:t>
            </a:r>
            <a:endParaRPr lang="ru-RU" sz="96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022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B1ECAC9-01D7-4478-BBB1-E4C1C93799B6}"/>
              </a:ext>
            </a:extLst>
          </p:cNvPr>
          <p:cNvSpPr/>
          <p:nvPr/>
        </p:nvSpPr>
        <p:spPr>
          <a:xfrm>
            <a:off x="0" y="0"/>
            <a:ext cx="2286000" cy="21095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76FB655-C59A-4720-BF9B-DF040551DB01}"/>
              </a:ext>
            </a:extLst>
          </p:cNvPr>
          <p:cNvSpPr/>
          <p:nvPr/>
        </p:nvSpPr>
        <p:spPr>
          <a:xfrm>
            <a:off x="2286000" y="2109538"/>
            <a:ext cx="2286000" cy="21095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0A2274-02CE-4722-95D1-D8F15BA4C4CB}"/>
              </a:ext>
            </a:extLst>
          </p:cNvPr>
          <p:cNvSpPr/>
          <p:nvPr/>
        </p:nvSpPr>
        <p:spPr>
          <a:xfrm>
            <a:off x="4572000" y="0"/>
            <a:ext cx="2286000" cy="21095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2316DA7-85FC-4AB0-A83A-71F19C0CA7B9}"/>
              </a:ext>
            </a:extLst>
          </p:cNvPr>
          <p:cNvSpPr/>
          <p:nvPr/>
        </p:nvSpPr>
        <p:spPr>
          <a:xfrm>
            <a:off x="9906000" y="4748462"/>
            <a:ext cx="2286000" cy="21095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C789CF2-A5CE-4941-80E9-C6B9E6F0EEB2}"/>
              </a:ext>
            </a:extLst>
          </p:cNvPr>
          <p:cNvSpPr/>
          <p:nvPr/>
        </p:nvSpPr>
        <p:spPr>
          <a:xfrm>
            <a:off x="7620000" y="2638924"/>
            <a:ext cx="2286000" cy="21095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DBDF7D6-6D03-46D4-8AA7-ABC610CAC01E}"/>
              </a:ext>
            </a:extLst>
          </p:cNvPr>
          <p:cNvSpPr/>
          <p:nvPr/>
        </p:nvSpPr>
        <p:spPr>
          <a:xfrm>
            <a:off x="5334000" y="4748462"/>
            <a:ext cx="2286000" cy="21095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3DC6CC40-D0E7-4A66-B5B2-1B604A21A635}"/>
              </a:ext>
            </a:extLst>
          </p:cNvPr>
          <p:cNvSpPr/>
          <p:nvPr/>
        </p:nvSpPr>
        <p:spPr>
          <a:xfrm>
            <a:off x="1647324" y="1483894"/>
            <a:ext cx="8897351" cy="336082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9600" b="1" dirty="0">
                <a:latin typeface="Roboto" panose="02000000000000000000" pitchFamily="2" charset="0"/>
                <a:ea typeface="Roboto" panose="02000000000000000000" pitchFamily="2" charset="0"/>
              </a:rPr>
              <a:t>СПАСИБО ЗА ВНИМАНИЕ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8D8BE2A9-177F-42BD-8961-D6A18509A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9853" y="4507832"/>
            <a:ext cx="2398294" cy="239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171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170</Words>
  <Application>Microsoft Office PowerPoint</Application>
  <PresentationFormat>Широкоэкранный</PresentationFormat>
  <Paragraphs>33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Roboto</vt:lpstr>
      <vt:lpstr>Тема Office</vt:lpstr>
      <vt:lpstr>ИИ‑ассистент объективной аналитики новостей и соцсетей для органов власти</vt:lpstr>
      <vt:lpstr>Проблема: информационный разрыв</vt:lpstr>
      <vt:lpstr>Принцип работы</vt:lpstr>
      <vt:lpstr>Источники и техническое решение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Алексей Кочетков</dc:creator>
  <cp:lastModifiedBy>Алексей Кочетков</cp:lastModifiedBy>
  <cp:revision>8</cp:revision>
  <dcterms:created xsi:type="dcterms:W3CDTF">2026-04-04T20:07:09Z</dcterms:created>
  <dcterms:modified xsi:type="dcterms:W3CDTF">2026-04-04T21:04:39Z</dcterms:modified>
</cp:coreProperties>
</file>